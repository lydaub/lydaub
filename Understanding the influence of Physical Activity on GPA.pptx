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Young Serif"/>
      <p:regular r:id="rId20"/>
    </p:embeddedFont>
    <p:embeddedFont>
      <p:font typeface="Rubik"/>
      <p:regular r:id="rId21"/>
      <p:bold r:id="rId22"/>
      <p:italic r:id="rId23"/>
      <p:boldItalic r:id="rId24"/>
    </p:embeddedFont>
    <p:embeddedFont>
      <p:font typeface="Rubik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YoungSerif-regular.fntdata"/><Relationship Id="rId22" Type="http://schemas.openxmlformats.org/officeDocument/2006/relationships/font" Target="fonts/Rubik-bold.fntdata"/><Relationship Id="rId21" Type="http://schemas.openxmlformats.org/officeDocument/2006/relationships/font" Target="fonts/Rubik-regular.fntdata"/><Relationship Id="rId24" Type="http://schemas.openxmlformats.org/officeDocument/2006/relationships/font" Target="fonts/Rubik-boldItalic.fntdata"/><Relationship Id="rId23" Type="http://schemas.openxmlformats.org/officeDocument/2006/relationships/font" Target="fonts/Rubik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SemiBold-bold.fntdata"/><Relationship Id="rId25" Type="http://schemas.openxmlformats.org/officeDocument/2006/relationships/font" Target="fonts/RubikSemiBold-regular.fntdata"/><Relationship Id="rId28" Type="http://schemas.openxmlformats.org/officeDocument/2006/relationships/font" Target="fonts/RubikSemiBold-boldItalic.fntdata"/><Relationship Id="rId27" Type="http://schemas.openxmlformats.org/officeDocument/2006/relationships/font" Target="fonts/Rubik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149098b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149098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49098b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49098b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149098b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149098b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149098b9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9149098b9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149098b9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149098b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149098b9f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149098b9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149098b9f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149098b9f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149098b9f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149098b9f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149098b9f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149098b9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149098b9f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149098b9f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49098b9f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149098b9f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149098b9f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149098b9f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149098b9f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149098b9f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149098b9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149098b9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1" name="Google Shape;61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5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igshare.com/articles/dataset/Dataset_Fitbits_field-tests_and_grades_The_effects_of_a_healthy_and_physically_active_lifestyle_on_the_academic_performance_of_first_year_college_students_/7218497?file=13292972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ublic.tableau.com/app/profile/lydia.aubourg/viz/infofinal_17647845406430/Dashboard3?publish=yes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1008600" y="1433650"/>
            <a:ext cx="7528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</a:t>
            </a:r>
            <a:r>
              <a:rPr lang="en"/>
              <a:t>influence of </a:t>
            </a:r>
            <a:r>
              <a:rPr lang="en"/>
              <a:t>Physical </a:t>
            </a:r>
            <a:r>
              <a:rPr lang="en"/>
              <a:t>Activity</a:t>
            </a:r>
            <a:r>
              <a:rPr lang="en"/>
              <a:t> on GPA</a:t>
            </a:r>
            <a:endParaRPr/>
          </a:p>
        </p:txBody>
      </p:sp>
      <p:sp>
        <p:nvSpPr>
          <p:cNvPr id="218" name="Google Shape;218;p31"/>
          <p:cNvSpPr txBox="1"/>
          <p:nvPr>
            <p:ph idx="1" type="subTitle"/>
          </p:nvPr>
        </p:nvSpPr>
        <p:spPr>
          <a:xfrm>
            <a:off x="2170675" y="3563125"/>
            <a:ext cx="5209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Lydia Aubourg &amp; </a:t>
            </a:r>
            <a:r>
              <a:rPr lang="en" sz="2200"/>
              <a:t>Gabriel</a:t>
            </a:r>
            <a:r>
              <a:rPr lang="en" sz="2200"/>
              <a:t> Nacmias</a:t>
            </a:r>
            <a:endParaRPr sz="2200"/>
          </a:p>
        </p:txBody>
      </p:sp>
      <p:sp>
        <p:nvSpPr>
          <p:cNvPr id="219" name="Google Shape;219;p31"/>
          <p:cNvSpPr txBox="1"/>
          <p:nvPr>
            <p:ph idx="1" type="subTitle"/>
          </p:nvPr>
        </p:nvSpPr>
        <p:spPr>
          <a:xfrm>
            <a:off x="1887375" y="4043900"/>
            <a:ext cx="5540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Information Visualization Section 12 -</a:t>
            </a:r>
            <a:r>
              <a:rPr lang="en" sz="1700"/>
              <a:t> </a:t>
            </a:r>
            <a:r>
              <a:rPr lang="en" sz="1500"/>
              <a:t>Fall 2025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25" name="Google Shape;225;p32"/>
          <p:cNvSpPr txBox="1"/>
          <p:nvPr>
            <p:ph idx="3" type="subTitle"/>
          </p:nvPr>
        </p:nvSpPr>
        <p:spPr>
          <a:xfrm>
            <a:off x="635500" y="10944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Be Covered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502725" y="2146900"/>
            <a:ext cx="3495600" cy="22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Our project visualizes fitness data to help beginners understand key health metrics like steps, peak activity minutes, and overall life score and how it affects academics.</a:t>
            </a:r>
            <a:endParaRPr sz="2000"/>
          </a:p>
        </p:txBody>
      </p:sp>
      <p:sp>
        <p:nvSpPr>
          <p:cNvPr id="227" name="Google Shape;227;p32"/>
          <p:cNvSpPr txBox="1"/>
          <p:nvPr>
            <p:ph idx="2" type="body"/>
          </p:nvPr>
        </p:nvSpPr>
        <p:spPr>
          <a:xfrm>
            <a:off x="5162500" y="2232275"/>
            <a:ext cx="3309900" cy="24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 sz="2015"/>
              <a:t>Our goal is to create a clear, approachable dashboard and a physical installation that teaches these concepts at a glance.</a:t>
            </a:r>
            <a:endParaRPr sz="201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233" name="Google Shape;233;p33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Origin</a:t>
            </a:r>
            <a:endParaRPr/>
          </a:p>
        </p:txBody>
      </p:sp>
      <p:sp>
        <p:nvSpPr>
          <p:cNvPr id="234" name="Google Shape;234;p33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9"/>
              <a:t>The data was collected during the Fall semester of 2017 from 581 freshmen enrolled at Oral Roberts University in a class entitled “Introduction to Whole Person Education”. </a:t>
            </a:r>
            <a:endParaRPr/>
          </a:p>
        </p:txBody>
      </p:sp>
      <p:sp>
        <p:nvSpPr>
          <p:cNvPr id="235" name="Google Shape;235;p33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r>
              <a:rPr lang="en"/>
              <a:t> Why we chose it?</a:t>
            </a:r>
            <a:endParaRPr/>
          </a:p>
        </p:txBody>
      </p:sp>
      <p:sp>
        <p:nvSpPr>
          <p:cNvPr id="236" name="Google Shape;236;p33"/>
          <p:cNvSpPr txBox="1"/>
          <p:nvPr>
            <p:ph idx="7" type="body"/>
          </p:nvPr>
        </p:nvSpPr>
        <p:spPr>
          <a:xfrm>
            <a:off x="60613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Autofit/>
          </a:bodyPr>
          <a:lstStyle/>
          <a:p>
            <a:pPr indent="-282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Font typeface="Rubik"/>
              <a:buChar char="●"/>
            </a:pPr>
            <a:r>
              <a:rPr lang="en" sz="850"/>
              <a:t>Includes multiple physical activity metrics</a:t>
            </a:r>
            <a:br>
              <a:rPr lang="en" sz="850"/>
            </a:br>
            <a:endParaRPr sz="850"/>
          </a:p>
          <a:p>
            <a:pPr indent="-282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Font typeface="Rubik"/>
              <a:buChar char="●"/>
            </a:pPr>
            <a:r>
              <a:rPr lang="en" sz="850"/>
              <a:t>Easy to interpret for first-time learners</a:t>
            </a:r>
            <a:br>
              <a:rPr lang="en" sz="850"/>
            </a:br>
            <a:endParaRPr sz="850"/>
          </a:p>
          <a:p>
            <a:pPr indent="-282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Font typeface="Rubik"/>
              <a:buChar char="●"/>
            </a:pPr>
            <a:r>
              <a:rPr lang="en" sz="850"/>
              <a:t>Supports visual comparisons (steps, heart rate zones, activity minutes, etc.)</a:t>
            </a:r>
            <a:endParaRPr sz="850"/>
          </a:p>
        </p:txBody>
      </p:sp>
      <p:sp>
        <p:nvSpPr>
          <p:cNvPr id="237" name="Google Shape;237;p33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Data Set</a:t>
            </a:r>
            <a:endParaRPr/>
          </a:p>
        </p:txBody>
      </p:sp>
      <p:sp>
        <p:nvSpPr>
          <p:cNvPr id="238" name="Google Shape;238;p33"/>
          <p:cNvSpPr txBox="1"/>
          <p:nvPr>
            <p:ph idx="4294967295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50" u="sng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Fitbits, Field Tests, and Grades. The effects of a healthy and physically active lifestyle on the academic performance of first year college students.</a:t>
            </a:r>
            <a:endParaRPr sz="1050">
              <a:solidFill>
                <a:schemeClr val="lt2"/>
              </a:solidFill>
            </a:endParaRPr>
          </a:p>
        </p:txBody>
      </p:sp>
      <p:pic>
        <p:nvPicPr>
          <p:cNvPr id="239" name="Google Shape;239;p33" title="colle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3149200"/>
            <a:ext cx="4163175" cy="1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 title="6q3K5ZxpxSJe277rEBdkf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7600" y="3139725"/>
            <a:ext cx="3992448" cy="18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Preparation</a:t>
            </a:r>
            <a:endParaRPr/>
          </a:p>
        </p:txBody>
      </p:sp>
      <p:sp>
        <p:nvSpPr>
          <p:cNvPr id="246" name="Google Shape;246;p3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Tableau Prep</a:t>
            </a:r>
            <a:endParaRPr/>
          </a:p>
        </p:txBody>
      </p:sp>
      <p:sp>
        <p:nvSpPr>
          <p:cNvPr id="247" name="Google Shape;247;p34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4"/>
              <a:t>Steps Taken:</a:t>
            </a:r>
            <a:endParaRPr b="1" sz="1854"/>
          </a:p>
          <a:p>
            <a:pPr indent="-33754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ubik"/>
              <a:buChar char="●"/>
            </a:pPr>
            <a:r>
              <a:rPr lang="en" sz="1854"/>
              <a:t>Removed missing or duplicated records</a:t>
            </a:r>
            <a:br>
              <a:rPr lang="en" sz="1854"/>
            </a:br>
            <a:endParaRPr sz="1854"/>
          </a:p>
          <a:p>
            <a:pPr indent="-337545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ubik"/>
              <a:buChar char="●"/>
            </a:pPr>
            <a:r>
              <a:rPr lang="en" sz="1854"/>
              <a:t>Converted timestamps to readable date formats</a:t>
            </a:r>
            <a:br>
              <a:rPr lang="en" sz="1854"/>
            </a:br>
            <a:endParaRPr sz="1854"/>
          </a:p>
          <a:p>
            <a:pPr indent="-337545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ubik"/>
              <a:buChar char="●"/>
            </a:pPr>
            <a:r>
              <a:rPr lang="en" sz="1854"/>
              <a:t>Cleaned column names for Tableau</a:t>
            </a:r>
            <a:br>
              <a:rPr lang="en" sz="1854"/>
            </a:br>
            <a:endParaRPr sz="1854"/>
          </a:p>
          <a:p>
            <a:pPr indent="-337545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ubik"/>
              <a:buChar char="●"/>
            </a:pPr>
            <a:r>
              <a:rPr lang="en" sz="1854"/>
              <a:t>Calculated new metrics (Life Score, averages, totals, etc.)</a:t>
            </a:r>
            <a:endParaRPr sz="1854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Final Tableau Dashboard</a:t>
            </a:r>
            <a:endParaRPr/>
          </a:p>
        </p:txBody>
      </p:sp>
      <p:sp>
        <p:nvSpPr>
          <p:cNvPr id="253" name="Google Shape;253;p35"/>
          <p:cNvSpPr txBox="1"/>
          <p:nvPr>
            <p:ph idx="4294967295" type="body"/>
          </p:nvPr>
        </p:nvSpPr>
        <p:spPr>
          <a:xfrm>
            <a:off x="7867450" y="274650"/>
            <a:ext cx="10716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9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(Interactive Dashboard with icons </a:t>
            </a:r>
            <a:r>
              <a:rPr lang="en" sz="1389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redirecting</a:t>
            </a:r>
            <a:r>
              <a:rPr lang="en" sz="1389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 you to graphs)</a:t>
            </a:r>
            <a:endParaRPr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254" name="Google Shape;254;p35" title="Screenshot 2025-12-03 at 12.56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188" y="1210500"/>
            <a:ext cx="6945623" cy="388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Object</a:t>
            </a:r>
            <a:endParaRPr/>
          </a:p>
        </p:txBody>
      </p:sp>
      <p:sp>
        <p:nvSpPr>
          <p:cNvPr id="260" name="Google Shape;260;p36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Close-Up &amp; Wide-Shot</a:t>
            </a:r>
            <a:endParaRPr/>
          </a:p>
        </p:txBody>
      </p:sp>
      <p:pic>
        <p:nvPicPr>
          <p:cNvPr id="261" name="Google Shape;261;p36" title="IMG_05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350" y="1926050"/>
            <a:ext cx="3894948" cy="292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 title="IMG_0558.png"/>
          <p:cNvPicPr preferRelativeResize="0"/>
          <p:nvPr/>
        </p:nvPicPr>
        <p:blipFill rotWithShape="1">
          <a:blip r:embed="rId4">
            <a:alphaModFix/>
          </a:blip>
          <a:srcRect b="12783" l="11699" r="15318" t="10441"/>
          <a:stretch/>
        </p:blipFill>
        <p:spPr>
          <a:xfrm>
            <a:off x="5753100" y="1782200"/>
            <a:ext cx="2287926" cy="32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68" name="Google Shape;268;p37"/>
          <p:cNvSpPr txBox="1"/>
          <p:nvPr>
            <p:ph idx="2" type="body"/>
          </p:nvPr>
        </p:nvSpPr>
        <p:spPr>
          <a:xfrm>
            <a:off x="295600" y="2022275"/>
            <a:ext cx="3754200" cy="26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893" lvl="0" marL="457200" rtl="0" algn="l"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Arial"/>
              <a:buChar char="●"/>
            </a:pPr>
            <a:r>
              <a:rPr lang="en" sz="1012">
                <a:solidFill>
                  <a:srgbClr val="F8F8F8"/>
                </a:solidFill>
              </a:rPr>
              <a:t>High GPA students have the highest "Life Scores" (shown by largest green rectangles in upper left)</a:t>
            </a:r>
            <a:endParaRPr sz="1012">
              <a:solidFill>
                <a:srgbClr val="F8F8F8"/>
              </a:solidFill>
            </a:endParaRPr>
          </a:p>
          <a:p>
            <a:pPr indent="-292893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Rubik"/>
              <a:buChar char="●"/>
            </a:pPr>
            <a:r>
              <a:rPr lang="en" sz="1012">
                <a:solidFill>
                  <a:srgbClr val="F8F8F8"/>
                </a:solidFill>
              </a:rPr>
              <a:t>There's a gradient from high scores (green, upper left) to low scores (red/pink, lower right)</a:t>
            </a:r>
            <a:endParaRPr sz="1012">
              <a:solidFill>
                <a:srgbClr val="F8F8F8"/>
              </a:solidFill>
            </a:endParaRPr>
          </a:p>
          <a:p>
            <a:pPr indent="-292893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Rubik"/>
              <a:buChar char="●"/>
            </a:pPr>
            <a:r>
              <a:rPr lang="en" sz="1012">
                <a:solidFill>
                  <a:srgbClr val="F8F8F8"/>
                </a:solidFill>
              </a:rPr>
              <a:t>Mid GPA students show more variability in life scores (olive/yellow middle sections)</a:t>
            </a:r>
            <a:endParaRPr sz="1012">
              <a:solidFill>
                <a:srgbClr val="F8F8F8"/>
              </a:solidFill>
            </a:endParaRPr>
          </a:p>
          <a:p>
            <a:pPr indent="-292893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Rubik"/>
              <a:buChar char="●"/>
            </a:pPr>
            <a:r>
              <a:rPr lang="en" sz="1012">
                <a:solidFill>
                  <a:srgbClr val="F8F8F8"/>
                </a:solidFill>
              </a:rPr>
              <a:t>Low GPA students cluster in lower life score ranges</a:t>
            </a:r>
            <a:endParaRPr sz="1012">
              <a:solidFill>
                <a:srgbClr val="F8F8F8"/>
              </a:solidFill>
            </a:endParaRPr>
          </a:p>
          <a:p>
            <a:pPr indent="-292893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Rubik"/>
              <a:buChar char="●"/>
            </a:pPr>
            <a:r>
              <a:rPr lang="en" sz="1012">
                <a:solidFill>
                  <a:srgbClr val="F8F8F8"/>
                </a:solidFill>
              </a:rPr>
              <a:t>The visualization suggests holistic wellness (life score) correlates with academic performance</a:t>
            </a:r>
            <a:endParaRPr sz="1012">
              <a:solidFill>
                <a:srgbClr val="F8F8F8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12">
              <a:solidFill>
                <a:srgbClr val="F8F8F8"/>
              </a:solidFill>
            </a:endParaRPr>
          </a:p>
          <a:p>
            <a:pPr indent="-292893" lvl="0" marL="457200" rtl="0" algn="l"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ts val="1013"/>
              <a:buFont typeface="Arial"/>
              <a:buChar char="●"/>
            </a:pPr>
            <a:r>
              <a:rPr b="1" lang="en" sz="1012">
                <a:solidFill>
                  <a:srgbClr val="F8F8F8"/>
                </a:solidFill>
              </a:rPr>
              <a:t>Colors:</a:t>
            </a:r>
            <a:r>
              <a:rPr lang="en" sz="1012">
                <a:solidFill>
                  <a:srgbClr val="F8F8F8"/>
                </a:solidFill>
              </a:rPr>
              <a:t> </a:t>
            </a:r>
            <a:r>
              <a:rPr lang="en" sz="1012">
                <a:solidFill>
                  <a:srgbClr val="F8F8F8"/>
                </a:solidFill>
              </a:rPr>
              <a:t>Using green for high activity and red for low activity so beginners understand quickly, yellow for mid activity</a:t>
            </a:r>
            <a:endParaRPr sz="537"/>
          </a:p>
        </p:txBody>
      </p:sp>
      <p:pic>
        <p:nvPicPr>
          <p:cNvPr id="269" name="Google Shape;269;p37" title="Screenshot 2025-12-03 at 11.57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425" y="2022300"/>
            <a:ext cx="4398525" cy="26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75" name="Google Shape;275;p38"/>
          <p:cNvSpPr txBox="1"/>
          <p:nvPr>
            <p:ph idx="2" type="body"/>
          </p:nvPr>
        </p:nvSpPr>
        <p:spPr>
          <a:xfrm>
            <a:off x="509250" y="2104225"/>
            <a:ext cx="3821400" cy="25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-295671" lvl="0" marL="457200" rtl="0" algn="l"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Shows a positive correlation between daily steps and GPA across all groups</a:t>
            </a:r>
            <a:endParaRPr sz="3250">
              <a:solidFill>
                <a:srgbClr val="F8F8F8"/>
              </a:solidFill>
            </a:endParaRPr>
          </a:p>
          <a:p>
            <a:pPr indent="-29567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High GPA students (green dots) dominate the dataset and cluster densely in the 3.0-4.0 GPA range with 8k-16k average daily steps</a:t>
            </a:r>
            <a:endParaRPr sz="3250">
              <a:solidFill>
                <a:srgbClr val="F8F8F8"/>
              </a:solidFill>
            </a:endParaRPr>
          </a:p>
          <a:p>
            <a:pPr indent="-29567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Low GPA students (red dots) are more dispersed and tend toward lower step counts</a:t>
            </a:r>
            <a:endParaRPr sz="3250">
              <a:solidFill>
                <a:srgbClr val="F8F8F8"/>
              </a:solidFill>
            </a:endParaRPr>
          </a:p>
          <a:p>
            <a:pPr indent="-29567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Mid GPA students (yellow dots) fall between the two groups</a:t>
            </a:r>
            <a:endParaRPr sz="3250">
              <a:solidFill>
                <a:srgbClr val="F8F8F8"/>
              </a:solidFill>
            </a:endParaRPr>
          </a:p>
          <a:p>
            <a:pPr indent="-29567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The trend lines show steeper slopes for high and mid GPA students, suggesting physical activity may have a stronger relationship with academic performance in these groups</a:t>
            </a:r>
            <a:endParaRPr sz="3250">
              <a:solidFill>
                <a:srgbClr val="F8F8F8"/>
              </a:solidFill>
            </a:endParaRPr>
          </a:p>
        </p:txBody>
      </p:sp>
      <p:pic>
        <p:nvPicPr>
          <p:cNvPr id="276" name="Google Shape;276;p38" title="Screenshot 2025-12-03 at 11.58.29 AM.png"/>
          <p:cNvPicPr preferRelativeResize="0"/>
          <p:nvPr/>
        </p:nvPicPr>
        <p:blipFill rotWithShape="1">
          <a:blip r:embed="rId3">
            <a:alphaModFix/>
          </a:blip>
          <a:srcRect b="0" l="0" r="45663" t="0"/>
          <a:stretch/>
        </p:blipFill>
        <p:spPr>
          <a:xfrm>
            <a:off x="5025225" y="1906863"/>
            <a:ext cx="2982927" cy="28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282" name="Google Shape;282;p39"/>
          <p:cNvSpPr txBox="1"/>
          <p:nvPr>
            <p:ph idx="2" type="body"/>
          </p:nvPr>
        </p:nvSpPr>
        <p:spPr>
          <a:xfrm>
            <a:off x="398400" y="1887625"/>
            <a:ext cx="3969300" cy="27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02021" lvl="0" marL="457200" rtl="0" algn="l"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557">
                <a:solidFill>
                  <a:srgbClr val="F8F8F8"/>
                </a:solidFill>
              </a:rPr>
              <a:t>High GPA students dramatically outperform other groups across all three fitness metrics</a:t>
            </a:r>
            <a:endParaRPr sz="3557">
              <a:solidFill>
                <a:srgbClr val="F8F8F8"/>
              </a:solidFill>
            </a:endParaRPr>
          </a:p>
          <a:p>
            <a:pPr indent="-30202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557">
                <a:solidFill>
                  <a:srgbClr val="F8F8F8"/>
                </a:solidFill>
              </a:rPr>
              <a:t>Peak Active Moments: High GPA students have 1,100 minutes vs 200 for mid and 350 for low</a:t>
            </a:r>
            <a:endParaRPr sz="3557">
              <a:solidFill>
                <a:srgbClr val="F8F8F8"/>
              </a:solidFill>
            </a:endParaRPr>
          </a:p>
          <a:p>
            <a:pPr indent="-30202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557">
                <a:solidFill>
                  <a:srgbClr val="F8F8F8"/>
                </a:solidFill>
              </a:rPr>
              <a:t>FatBurn Minutes: High GPA students have 65k minutes - vastly more than mid (8k) and low (10k)</a:t>
            </a:r>
            <a:endParaRPr sz="3557">
              <a:solidFill>
                <a:srgbClr val="F8F8F8"/>
              </a:solidFill>
            </a:endParaRPr>
          </a:p>
          <a:p>
            <a:pPr indent="-30202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557">
                <a:solidFill>
                  <a:srgbClr val="F8F8F8"/>
                </a:solidFill>
              </a:rPr>
              <a:t>Cardio Minutes: High GPA students have 4k minutes vs 600 for mid and 400 for low</a:t>
            </a:r>
            <a:endParaRPr sz="3557">
              <a:solidFill>
                <a:srgbClr val="F8F8F8"/>
              </a:solidFill>
            </a:endParaRPr>
          </a:p>
          <a:p>
            <a:pPr indent="-302021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557">
                <a:solidFill>
                  <a:srgbClr val="F8F8F8"/>
                </a:solidFill>
              </a:rPr>
              <a:t>The pattern is consistent: high academic performance correlates with significantly higher exercise intensity and durations</a:t>
            </a:r>
            <a:endParaRPr sz="3557">
              <a:solidFill>
                <a:srgbClr val="F8F8F8"/>
              </a:solidFill>
            </a:endParaRPr>
          </a:p>
        </p:txBody>
      </p:sp>
      <p:pic>
        <p:nvPicPr>
          <p:cNvPr id="283" name="Google Shape;283;p39" title="Screenshot 2025-12-03 at 11.58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925" y="1812750"/>
            <a:ext cx="2062600" cy="3042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Connections</a:t>
            </a:r>
            <a:endParaRPr/>
          </a:p>
        </p:txBody>
      </p:sp>
      <p:sp>
        <p:nvSpPr>
          <p:cNvPr id="289" name="Google Shape;289;p40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Object and Dashboard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528175" y="2039575"/>
            <a:ext cx="3495600" cy="23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0" lang="en" sz="1100"/>
              <a:t>A personality path that captures attention visually.</a:t>
            </a:r>
            <a:br>
              <a:rPr b="0" lang="en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" sz="1100"/>
              <a:t>It divides students into “active” and “inactive” categories based on behavior and lifestyle.</a:t>
            </a:r>
            <a:br>
              <a:rPr b="0" lang="en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" sz="1100"/>
              <a:t>It’s subtle, something you follow visually to understand where you fall.</a:t>
            </a:r>
            <a:br>
              <a:rPr b="0" lang="en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" sz="1100"/>
              <a:t>Highlights issues of sedentary behavior and its academic impact.</a:t>
            </a:r>
            <a:endParaRPr b="0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0" sz="2300"/>
          </a:p>
        </p:txBody>
      </p:sp>
      <p:sp>
        <p:nvSpPr>
          <p:cNvPr id="291" name="Google Shape;291;p40"/>
          <p:cNvSpPr txBox="1"/>
          <p:nvPr>
            <p:ph idx="2" type="body"/>
          </p:nvPr>
        </p:nvSpPr>
        <p:spPr>
          <a:xfrm>
            <a:off x="5030450" y="2070250"/>
            <a:ext cx="3495600" cy="23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40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ct val="100000"/>
              <a:buChar char="●"/>
            </a:pPr>
            <a:r>
              <a:rPr b="0" lang="en" sz="1900">
                <a:solidFill>
                  <a:srgbClr val="F8F8F8"/>
                </a:solidFill>
              </a:rPr>
              <a:t>Data-heavy and detailed.</a:t>
            </a:r>
            <a:br>
              <a:rPr b="0" lang="en" sz="1900">
                <a:solidFill>
                  <a:srgbClr val="F8F8F8"/>
                </a:solidFill>
              </a:rPr>
            </a:br>
            <a:endParaRPr b="0" sz="1900">
              <a:solidFill>
                <a:srgbClr val="F8F8F8"/>
              </a:solidFill>
            </a:endParaRPr>
          </a:p>
          <a:p>
            <a:pPr indent="-3040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Char char="●"/>
            </a:pPr>
            <a:r>
              <a:rPr b="0" lang="en" sz="1900">
                <a:solidFill>
                  <a:srgbClr val="F8F8F8"/>
                </a:solidFill>
              </a:rPr>
              <a:t>Shows specific metrics (steps, peak active minutes, activity</a:t>
            </a:r>
            <a:r>
              <a:rPr b="0" lang="en" sz="1900">
                <a:solidFill>
                  <a:srgbClr val="F8F8F8"/>
                </a:solidFill>
              </a:rPr>
              <a:t> </a:t>
            </a:r>
            <a:r>
              <a:rPr b="0" lang="en" sz="1900">
                <a:solidFill>
                  <a:srgbClr val="F8F8F8"/>
                </a:solidFill>
              </a:rPr>
              <a:t>types).</a:t>
            </a:r>
            <a:br>
              <a:rPr b="0" lang="en" sz="1900">
                <a:solidFill>
                  <a:srgbClr val="F8F8F8"/>
                </a:solidFill>
              </a:rPr>
            </a:br>
            <a:endParaRPr b="0" sz="1900">
              <a:solidFill>
                <a:srgbClr val="F8F8F8"/>
              </a:solidFill>
            </a:endParaRPr>
          </a:p>
          <a:p>
            <a:pPr indent="-3040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Char char="●"/>
            </a:pPr>
            <a:r>
              <a:rPr b="0" lang="en" sz="1900">
                <a:solidFill>
                  <a:srgbClr val="F8F8F8"/>
                </a:solidFill>
              </a:rPr>
              <a:t>Breaks down GPA ranges and shows how physical activity patterns vary across each level.</a:t>
            </a:r>
            <a:br>
              <a:rPr b="0" lang="en" sz="1900">
                <a:solidFill>
                  <a:srgbClr val="F8F8F8"/>
                </a:solidFill>
              </a:rPr>
            </a:br>
            <a:endParaRPr b="0" sz="1900">
              <a:solidFill>
                <a:srgbClr val="F8F8F8"/>
              </a:solidFill>
            </a:endParaRPr>
          </a:p>
          <a:p>
            <a:pPr indent="-3040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Char char="●"/>
            </a:pPr>
            <a:r>
              <a:rPr b="0" lang="en" sz="1900">
                <a:solidFill>
                  <a:srgbClr val="F8F8F8"/>
                </a:solidFill>
              </a:rPr>
              <a:t>Supports motivation by helping users see where they are and how to improve.</a:t>
            </a:r>
            <a:endParaRPr b="0" sz="1900">
              <a:solidFill>
                <a:srgbClr val="F8F8F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Connections contd.</a:t>
            </a:r>
            <a:endParaRPr/>
          </a:p>
        </p:txBody>
      </p:sp>
      <p:sp>
        <p:nvSpPr>
          <p:cNvPr id="297" name="Google Shape;297;p41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Object and Dashboard</a:t>
            </a:r>
            <a:endParaRPr/>
          </a:p>
        </p:txBody>
      </p:sp>
      <p:sp>
        <p:nvSpPr>
          <p:cNvPr id="298" name="Google Shape;298;p41"/>
          <p:cNvSpPr txBox="1"/>
          <p:nvPr>
            <p:ph idx="1" type="body"/>
          </p:nvPr>
        </p:nvSpPr>
        <p:spPr>
          <a:xfrm>
            <a:off x="635500" y="2054625"/>
            <a:ext cx="3495600" cy="23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0" lang="en" sz="1100"/>
              <a:t>Both pieces reflect the connection between being physically active and being academically engaged. They work together to show how movement habits can influence GPA ranges.</a:t>
            </a: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/>
              <a:t>The installation grabs attention, simplifies the idea, and guides people into reflecting on their habits.</a:t>
            </a:r>
            <a:br>
              <a:rPr b="0" lang="en" sz="1100"/>
            </a:br>
            <a:endParaRPr b="0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n" sz="1100"/>
              <a:t>The dashboard gives the in-depth evidence and context behind that reflection.</a:t>
            </a:r>
            <a:br>
              <a:rPr b="0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299" name="Google Shape;299;p41"/>
          <p:cNvSpPr txBox="1"/>
          <p:nvPr>
            <p:ph idx="2" type="body"/>
          </p:nvPr>
        </p:nvSpPr>
        <p:spPr>
          <a:xfrm>
            <a:off x="5068775" y="2108525"/>
            <a:ext cx="3495600" cy="24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Potential Improvements:</a:t>
            </a:r>
            <a:endParaRPr b="0" sz="20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0" lang="en" sz="1359">
                <a:solidFill>
                  <a:srgbClr val="F8F8F8"/>
                </a:solidFill>
              </a:rPr>
              <a:t>Add a small piece of data directly onto the installation to strengthen the information.</a:t>
            </a:r>
            <a:br>
              <a:rPr b="0" lang="en" sz="1359">
                <a:solidFill>
                  <a:srgbClr val="F8F8F8"/>
                </a:solidFill>
              </a:rPr>
            </a:br>
            <a:endParaRPr b="0" sz="1359">
              <a:solidFill>
                <a:srgbClr val="F8F8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9">
                <a:solidFill>
                  <a:srgbClr val="F8F8F8"/>
                </a:solidFill>
              </a:rPr>
              <a:t>Add more charts or interactive elements in the dashboard to keep users engaged and make exploration more intuitive.</a:t>
            </a:r>
            <a:endParaRPr b="0" sz="20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</a:t>
            </a:r>
            <a:endParaRPr/>
          </a:p>
        </p:txBody>
      </p:sp>
      <p:sp>
        <p:nvSpPr>
          <p:cNvPr id="305" name="Google Shape;305;p42"/>
          <p:cNvSpPr txBox="1"/>
          <p:nvPr>
            <p:ph idx="1" type="body"/>
          </p:nvPr>
        </p:nvSpPr>
        <p:spPr>
          <a:xfrm>
            <a:off x="495075" y="2200550"/>
            <a:ext cx="3495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Lydia:</a:t>
            </a:r>
            <a:endParaRPr b="0" sz="22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ts val="2200"/>
              <a:buFont typeface="Young Serif"/>
              <a:buChar char="●"/>
            </a:pPr>
            <a:r>
              <a:rPr b="0" lang="en" sz="22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Tableau Dashboard and prep</a:t>
            </a:r>
            <a:endParaRPr b="0" sz="22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06" name="Google Shape;306;p42"/>
          <p:cNvSpPr txBox="1"/>
          <p:nvPr>
            <p:ph idx="2" type="body"/>
          </p:nvPr>
        </p:nvSpPr>
        <p:spPr>
          <a:xfrm>
            <a:off x="4976800" y="2200550"/>
            <a:ext cx="3495600" cy="16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Gabriel:</a:t>
            </a:r>
            <a:endParaRPr b="0" sz="23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ts val="2300"/>
              <a:buFont typeface="Young Serif"/>
              <a:buChar char="●"/>
            </a:pPr>
            <a:r>
              <a:rPr b="0" lang="en" sz="23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Physical</a:t>
            </a:r>
            <a:r>
              <a:rPr b="0" lang="en" sz="2300">
                <a:solidFill>
                  <a:srgbClr val="F8F8F8"/>
                </a:solidFill>
                <a:latin typeface="Young Serif"/>
                <a:ea typeface="Young Serif"/>
                <a:cs typeface="Young Serif"/>
                <a:sym typeface="Young Serif"/>
              </a:rPr>
              <a:t> object, and formatted presentation</a:t>
            </a:r>
            <a:endParaRPr b="0" sz="2300">
              <a:solidFill>
                <a:srgbClr val="F8F8F8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312" name="Google Shape;312;p43"/>
          <p:cNvSpPr txBox="1"/>
          <p:nvPr>
            <p:ph idx="2" type="body"/>
          </p:nvPr>
        </p:nvSpPr>
        <p:spPr>
          <a:xfrm>
            <a:off x="398400" y="1887625"/>
            <a:ext cx="75909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88540" lvl="0" marL="457200" rtl="0" algn="l">
              <a:spcBef>
                <a:spcPts val="120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Finding the right data source. </a:t>
            </a:r>
            <a:r>
              <a:rPr lang="en" sz="3250">
                <a:solidFill>
                  <a:srgbClr val="F8F8F8"/>
                </a:solidFill>
              </a:rPr>
              <a:t>Originally</a:t>
            </a:r>
            <a:r>
              <a:rPr lang="en" sz="3250">
                <a:solidFill>
                  <a:srgbClr val="F8F8F8"/>
                </a:solidFill>
              </a:rPr>
              <a:t> we had a broad idea on </a:t>
            </a:r>
            <a:r>
              <a:rPr lang="en" sz="3250">
                <a:solidFill>
                  <a:srgbClr val="F8F8F8"/>
                </a:solidFill>
              </a:rPr>
              <a:t>physical</a:t>
            </a:r>
            <a:r>
              <a:rPr lang="en" sz="3250">
                <a:solidFill>
                  <a:srgbClr val="F8F8F8"/>
                </a:solidFill>
              </a:rPr>
              <a:t> </a:t>
            </a:r>
            <a:r>
              <a:rPr lang="en" sz="3250">
                <a:solidFill>
                  <a:srgbClr val="F8F8F8"/>
                </a:solidFill>
              </a:rPr>
              <a:t>activity</a:t>
            </a:r>
            <a:r>
              <a:rPr lang="en" sz="3250">
                <a:solidFill>
                  <a:srgbClr val="F8F8F8"/>
                </a:solidFill>
              </a:rPr>
              <a:t> levels across the country had to narrow it to a </a:t>
            </a:r>
            <a:r>
              <a:rPr lang="en" sz="3250">
                <a:solidFill>
                  <a:srgbClr val="F8F8F8"/>
                </a:solidFill>
              </a:rPr>
              <a:t>specific</a:t>
            </a:r>
            <a:r>
              <a:rPr lang="en" sz="3250">
                <a:solidFill>
                  <a:srgbClr val="F8F8F8"/>
                </a:solidFill>
              </a:rPr>
              <a:t> </a:t>
            </a:r>
            <a:r>
              <a:rPr lang="en" sz="3250">
                <a:solidFill>
                  <a:srgbClr val="F8F8F8"/>
                </a:solidFill>
              </a:rPr>
              <a:t>groups</a:t>
            </a:r>
            <a:r>
              <a:rPr lang="en" sz="3250">
                <a:solidFill>
                  <a:srgbClr val="F8F8F8"/>
                </a:solidFill>
              </a:rPr>
              <a:t> so we chose university students. </a:t>
            </a:r>
            <a:endParaRPr sz="3250">
              <a:solidFill>
                <a:srgbClr val="F8F8F8"/>
              </a:solidFill>
            </a:endParaRPr>
          </a:p>
          <a:p>
            <a:pPr indent="-388540" lvl="0" marL="457200" rtl="0" algn="l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ct val="100000"/>
              <a:buFont typeface="Arial"/>
              <a:buChar char="●"/>
            </a:pPr>
            <a:r>
              <a:rPr lang="en" sz="3250">
                <a:solidFill>
                  <a:srgbClr val="F8F8F8"/>
                </a:solidFill>
              </a:rPr>
              <a:t>Overestimating our</a:t>
            </a:r>
            <a:r>
              <a:rPr lang="en" sz="3250">
                <a:solidFill>
                  <a:srgbClr val="F8F8F8"/>
                </a:solidFill>
              </a:rPr>
              <a:t> physical object size, </a:t>
            </a:r>
            <a:r>
              <a:rPr lang="en" sz="3250">
                <a:solidFill>
                  <a:srgbClr val="F8F8F8"/>
                </a:solidFill>
              </a:rPr>
              <a:t>originally</a:t>
            </a:r>
            <a:r>
              <a:rPr lang="en" sz="3250">
                <a:solidFill>
                  <a:srgbClr val="F8F8F8"/>
                </a:solidFill>
              </a:rPr>
              <a:t> was 24 x 36 but instead was 8.5 x 11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